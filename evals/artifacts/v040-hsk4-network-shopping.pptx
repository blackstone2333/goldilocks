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7c48a845644c45" /><Relationship Type="http://schemas.openxmlformats.org/officeDocument/2006/relationships/extended-properties" Target="/docProps/app.xml" Id="R85897abe13e34eef" /><Relationship Type="http://schemas.openxmlformats.org/officeDocument/2006/relationships/officeDocument" Target="/ppt/presentation.xml" Id="Raf5d64481de74c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acb096d23542f9"/>
  </p:sldMasterIdLst>
  <p:notesMasterIdLst>
    <p:notesMasterId xmlns:r="http://schemas.openxmlformats.org/officeDocument/2006/relationships" r:id="Rc2a4b627ca34439e"/>
  </p:notesMasterIdLst>
  <p:sldIdLst>
    <p:sldId xmlns:r="http://schemas.openxmlformats.org/officeDocument/2006/relationships" id="256" r:id="R4b1293aedbf64c2c"/>
    <p:sldId xmlns:r="http://schemas.openxmlformats.org/officeDocument/2006/relationships" id="257" r:id="R8918a7aa7a214550"/>
    <p:sldId xmlns:r="http://schemas.openxmlformats.org/officeDocument/2006/relationships" id="258" r:id="R253cc30619db4a86"/>
    <p:sldId xmlns:r="http://schemas.openxmlformats.org/officeDocument/2006/relationships" id="259" r:id="Rb7b8b144b4e74cd5"/>
    <p:sldId xmlns:r="http://schemas.openxmlformats.org/officeDocument/2006/relationships" id="260" r:id="R107fb9efcf8540c5"/>
    <p:sldId xmlns:r="http://schemas.openxmlformats.org/officeDocument/2006/relationships" id="261" r:id="R8598737910944213"/>
    <p:sldId xmlns:r="http://schemas.openxmlformats.org/officeDocument/2006/relationships" id="262" r:id="R1dcf6f0f27ee4eaf"/>
    <p:sldId xmlns:r="http://schemas.openxmlformats.org/officeDocument/2006/relationships" id="263" r:id="R455f1868008d45a5"/>
    <p:sldId xmlns:r="http://schemas.openxmlformats.org/officeDocument/2006/relationships" id="264" r:id="Ra3eed8ad08ab4dd1"/>
    <p:sldId xmlns:r="http://schemas.openxmlformats.org/officeDocument/2006/relationships" id="265" r:id="Rdbaab69fc8df459a"/>
    <p:sldId xmlns:r="http://schemas.openxmlformats.org/officeDocument/2006/relationships" id="266" r:id="R6d11594380f84dc0"/>
    <p:sldId xmlns:r="http://schemas.openxmlformats.org/officeDocument/2006/relationships" id="267" r:id="R49b2a92d8c364b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b45ba266cd453a" /><Relationship Type="http://schemas.openxmlformats.org/officeDocument/2006/relationships/slideMaster" Target="/ppt/slideMasters/slideMaster1.xml" Id="R65acb096d23542f9" /><Relationship Type="http://schemas.openxmlformats.org/officeDocument/2006/relationships/notesMaster" Target="/ppt/notesMasters/notesMaster1.xml" Id="Rc2a4b627ca34439e" /><Relationship Type="http://schemas.openxmlformats.org/officeDocument/2006/relationships/presProps" Target="/ppt/presProps.xml" Id="R85fbf27aa360458a" /><Relationship Type="http://schemas.openxmlformats.org/officeDocument/2006/relationships/tableStyles" Target="/ppt/tableStyles.xml" Id="Re8a655acee234e6c" /><Relationship Type="http://schemas.openxmlformats.org/officeDocument/2006/relationships/slide" Target="/ppt/slides/slide1.xml" Id="R4b1293aedbf64c2c" /><Relationship Type="http://schemas.openxmlformats.org/officeDocument/2006/relationships/slide" Target="/ppt/slides/slide2.xml" Id="R8918a7aa7a214550" /><Relationship Type="http://schemas.openxmlformats.org/officeDocument/2006/relationships/slide" Target="/ppt/slides/slide3.xml" Id="R253cc30619db4a86" /><Relationship Type="http://schemas.openxmlformats.org/officeDocument/2006/relationships/slide" Target="/ppt/slides/slide4.xml" Id="Rb7b8b144b4e74cd5" /><Relationship Type="http://schemas.openxmlformats.org/officeDocument/2006/relationships/slide" Target="/ppt/slides/slide5.xml" Id="R107fb9efcf8540c5" /><Relationship Type="http://schemas.openxmlformats.org/officeDocument/2006/relationships/slide" Target="/ppt/slides/slide6.xml" Id="R8598737910944213" /><Relationship Type="http://schemas.openxmlformats.org/officeDocument/2006/relationships/slide" Target="/ppt/slides/slide7.xml" Id="R1dcf6f0f27ee4eaf" /><Relationship Type="http://schemas.openxmlformats.org/officeDocument/2006/relationships/slide" Target="/ppt/slides/slide8.xml" Id="R455f1868008d45a5" /><Relationship Type="http://schemas.openxmlformats.org/officeDocument/2006/relationships/slide" Target="/ppt/slides/slide9.xml" Id="Ra3eed8ad08ab4dd1" /><Relationship Type="http://schemas.openxmlformats.org/officeDocument/2006/relationships/slide" Target="/ppt/slides/slide10.xml" Id="Rdbaab69fc8df459a" /><Relationship Type="http://schemas.openxmlformats.org/officeDocument/2006/relationships/slide" Target="/ppt/slides/slide11.xml" Id="R6d11594380f84dc0" /><Relationship Type="http://schemas.openxmlformats.org/officeDocument/2006/relationships/slide" Target="/ppt/slides/slide12.xml" Id="R49b2a92d8c364b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6c8467962f49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217d5e5abd47bb" /><Relationship Type="http://schemas.openxmlformats.org/officeDocument/2006/relationships/notesMaster" Target="/ppt/notesMasters/notesMaster1.xml" Id="R6560c366e2b54c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26fa3e76e0412d" /><Relationship Type="http://schemas.openxmlformats.org/officeDocument/2006/relationships/notesMaster" Target="/ppt/notesMasters/notesMaster1.xml" Id="R6f7b8900cf7540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7192c6fe7c42a8" /><Relationship Type="http://schemas.openxmlformats.org/officeDocument/2006/relationships/notesMaster" Target="/ppt/notesMasters/notesMaster1.xml" Id="Redd613d9c98b4e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f50e3b159d49cd" /><Relationship Type="http://schemas.openxmlformats.org/officeDocument/2006/relationships/notesMaster" Target="/ppt/notesMasters/notesMaster1.xml" Id="Ra9f54bdedf0547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8a51de39b2414f" /><Relationship Type="http://schemas.openxmlformats.org/officeDocument/2006/relationships/notesMaster" Target="/ppt/notesMasters/notesMaster1.xml" Id="Ra22e2165b2c34d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6b9a66c1db462e" /><Relationship Type="http://schemas.openxmlformats.org/officeDocument/2006/relationships/notesMaster" Target="/ppt/notesMasters/notesMaster1.xml" Id="R0ce2f803a36448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861cc0dd26400f" /><Relationship Type="http://schemas.openxmlformats.org/officeDocument/2006/relationships/notesMaster" Target="/ppt/notesMasters/notesMaster1.xml" Id="Ra92cdaf5332c4a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8e1d1cc0bb41a2" /><Relationship Type="http://schemas.openxmlformats.org/officeDocument/2006/relationships/notesMaster" Target="/ppt/notesMasters/notesMaster1.xml" Id="R4c1a133c391c4f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c6df34e31c470d" /><Relationship Type="http://schemas.openxmlformats.org/officeDocument/2006/relationships/notesMaster" Target="/ppt/notesMasters/notesMaster1.xml" Id="R4204387c103a41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bb9c19a88745cb" /><Relationship Type="http://schemas.openxmlformats.org/officeDocument/2006/relationships/notesMaster" Target="/ppt/notesMasters/notesMaster1.xml" Id="Ra2d6e77ff5544a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9b9b366e014744" /><Relationship Type="http://schemas.openxmlformats.org/officeDocument/2006/relationships/notesMaster" Target="/ppt/notesMasters/notesMaster1.xml" Id="Rb24171e2d80740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3be2a0451c4a80" /><Relationship Type="http://schemas.openxmlformats.org/officeDocument/2006/relationships/notesMaster" Target="/ppt/notesMasters/notesMaster1.xml" Id="R357655fe04eb48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教师提示：只接收 1 个理由即可，不提前给答案方向，允许学生用简单句开场。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互动：选择一个立场并说一句简短理由。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教师提示：可用引导语：先说产品，再说原因，必要时给词汇支架。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互动：请指向图片并完整说出你的回答。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教师提示：重点关注发音与连读，纠正顺序时只给最小提示，不重复整句。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互动：请按顺序读出并确认流程是否通顺。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教师提示：允许使用停顿和替换词，但每句必须包含完整结构，首句先慢速示范。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互动：老师给提示后请你说两句，因为-所以结构。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教师提示：先提醒学生别只说名词，必须用对比句。可追问：这个问题在你身上发生过吗？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互动：请你选一个问题卡，说一遍：虽然……，但是……。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教师提示：示范朗读："小李在网上下单买了耳机。收到后他发现声音有杂音，于是联系卖家，说明情况并申请退货。" 然后引导学生用要点句回答。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互动：老师先朗读情境，学生再用完整句回答三问。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教师提示：先让学生先口头比对，再要求用完整句。若只说“我喜欢”可追问：为什么更喜欢这个？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互动：请先比较颜色、价格、尺码，再选择一件并说两句话。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教师提示：先示范完整朗读一遍，再请学生改成自己的句子；重点听‘请把…发给我’和‘可以退货吗？’。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互动：将四轮对话按买家—卖家顺序排好，先读买家台词。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教师提示：明确角色方向：第一轮卖家先开口、第二轮买家先开口；每轮只做一条关键纠错。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互动：先轮流说一遍，再交换身份重说一遍。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教师提示：重点听是否有主谓关系完整，必要时提示‘因为-所以’或‘虽然-但是’衔接词。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互动：说出你的判断，并给出至少一个原因。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教师提示：允许先列关键词再连成句；保留一句条件句、一句执行句、一句结果句。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互动：按要是…就…完整说出三句推荐。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教师提示：只标记‘已掌握/需支持’，保留一条可迁移表达用于下课复习。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互动：30秒内口头或书写作答一次。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来源：原创课堂材料，无外部来源。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6e318c33843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bd87877ca84973" /><Relationship Type="http://schemas.openxmlformats.org/officeDocument/2006/relationships/slideLayout" Target="/ppt/slideLayouts/slideLayout1.xml" Id="R87ca5e3806b748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ca5e3806b748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a745cfefa41b8" /><Relationship Type="http://schemas.openxmlformats.org/officeDocument/2006/relationships/notesSlide" Target="/ppt/notesSlides/notesSlide1.xml" Id="Rbea5bef15bd145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efce70c084086" /><Relationship Type="http://schemas.openxmlformats.org/officeDocument/2006/relationships/notesSlide" Target="/ppt/notesSlides/notesSlide2.xml" Id="R753d3dcc6db844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899588be346f3" /><Relationship Type="http://schemas.openxmlformats.org/officeDocument/2006/relationships/notesSlide" Target="/ppt/notesSlides/notesSlide3.xml" Id="R0fc165804ceb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7ad1d743341a0" /><Relationship Type="http://schemas.openxmlformats.org/officeDocument/2006/relationships/notesSlide" Target="/ppt/notesSlides/notesSlide4.xml" Id="Rade597d640e64d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4ce2fc0ce4095" /><Relationship Type="http://schemas.openxmlformats.org/officeDocument/2006/relationships/notesSlide" Target="/ppt/notesSlides/notesSlide5.xml" Id="Rc167d6b0ffff43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b6bb32b1745e5" /><Relationship Type="http://schemas.openxmlformats.org/officeDocument/2006/relationships/notesSlide" Target="/ppt/notesSlides/notesSlide6.xml" Id="R58328eb0e0f34f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8e31526f846f7" /><Relationship Type="http://schemas.openxmlformats.org/officeDocument/2006/relationships/notesSlide" Target="/ppt/notesSlides/notesSlide7.xml" Id="Rb13d8424bc5741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43f1fdeb34db6" /><Relationship Type="http://schemas.openxmlformats.org/officeDocument/2006/relationships/notesSlide" Target="/ppt/notesSlides/notesSlide8.xml" Id="R1a65f01488c14d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35e1dd2c94476" /><Relationship Type="http://schemas.openxmlformats.org/officeDocument/2006/relationships/notesSlide" Target="/ppt/notesSlides/notesSlide9.xml" Id="R1c83f03bb4d94b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1dca9c7414995" /><Relationship Type="http://schemas.openxmlformats.org/officeDocument/2006/relationships/notesSlide" Target="/ppt/notesSlides/notesSlide10.xml" Id="R4ed2114b3f6346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d2ba744b6496e" /><Relationship Type="http://schemas.openxmlformats.org/officeDocument/2006/relationships/notesSlide" Target="/ppt/notesSlides/notesSlide11.xml" Id="R6c0cf15a044e42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1eb2158fe49cb" /><Relationship Type="http://schemas.openxmlformats.org/officeDocument/2006/relationships/notesSlide" Target="/ppt/notesSlides/notesSlide12.xml" Id="Rb083907124eb46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3-1">
            <a:extLst xmlns:a="http://schemas.openxmlformats.org/drawingml/2006/main">
              <a:ext uri="{FF2B5EF4-FFF2-40B4-BE49-F238E27FC236}">
                <a16:creationId xmlns:a16="http://schemas.microsoft.com/office/drawing/2014/main" id="{83B52AD3-EBC1-4F65-BD37-3A8C935C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网络购物
方便还是麻烦？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2BC199A-F9D9-44A8-9003-4798E759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45–60 分钟
从下单到表达观点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5230991-2A0E-454F-B980-08E8CBA1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HSK 4 · 一对一口语课</a:t>
            </a:r>
          </a:p>
        </p:txBody>
      </p:sp>
      <p:sp>
        <p:nvSpPr>
          <p:cNvPr id="4" name="cover-choice-1">
            <a:extLst xmlns:a="http://schemas.openxmlformats.org/drawingml/2006/main">
              <a:ext uri="{FF2B5EF4-FFF2-40B4-BE49-F238E27FC236}">
                <a16:creationId xmlns:a16="http://schemas.microsoft.com/office/drawing/2014/main" id="{FD4CD81C-6561-4A36-B2DD-FD48381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05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3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45100"/>
                </a:solidFill>
              </a:defRPr>
            </a:pPr>
            <a:r>
              <a:rPr sz="2100" b="1">
                <a:solidFill>
                  <a:srgbClr val="A45100"/>
                </a:solidFill>
              </a:rPr>
              <a:t>便</a:t>
            </a:r>
          </a:p>
        </p:txBody>
      </p:sp>
      <p:sp>
        <p:nvSpPr>
          <p:cNvPr id="5" name="cover-choice-2">
            <a:extLst xmlns:a="http://schemas.openxmlformats.org/drawingml/2006/main">
              <a:ext uri="{FF2B5EF4-FFF2-40B4-BE49-F238E27FC236}">
                <a16:creationId xmlns:a16="http://schemas.microsoft.com/office/drawing/2014/main" id="{042224F0-5014-4E1E-964C-6BE5009C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4C88"/>
                </a:solidFill>
              </a:defRPr>
            </a:pPr>
            <a:r>
              <a:rPr sz="2100" b="1">
                <a:solidFill>
                  <a:srgbClr val="244C88"/>
                </a:solidFill>
              </a:rPr>
              <a:t>烦</a:t>
            </a:r>
          </a:p>
        </p:txBody>
      </p:sp>
      <p:sp>
        <p:nvSpPr>
          <p:cNvPr id="6" name="accent-rail-1">
            <a:extLst xmlns:a="http://schemas.openxmlformats.org/drawingml/2006/main">
              <a:ext uri="{FF2B5EF4-FFF2-40B4-BE49-F238E27FC236}">
                <a16:creationId xmlns:a16="http://schemas.microsoft.com/office/drawing/2014/main" id="{396C319C-2310-4FA9-80CD-08A46F35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ction-1">
            <a:extLst xmlns:a="http://schemas.openxmlformats.org/drawingml/2006/main">
              <a:ext uri="{FF2B5EF4-FFF2-40B4-BE49-F238E27FC236}">
                <a16:creationId xmlns:a16="http://schemas.microsoft.com/office/drawing/2014/main" id="{9F0450A9-C67B-488C-BFAE-6F998ABC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WARM-UP · 热身</a:t>
            </a:r>
          </a:p>
        </p:txBody>
      </p:sp>
      <p:sp>
        <p:nvSpPr>
          <p:cNvPr id="8" name="prompt-band-1">
            <a:extLst xmlns:a="http://schemas.openxmlformats.org/drawingml/2006/main">
              <a:ext uri="{FF2B5EF4-FFF2-40B4-BE49-F238E27FC236}">
                <a16:creationId xmlns:a16="http://schemas.microsoft.com/office/drawing/2014/main" id="{FC154233-B143-42F4-B9A9-EFF56D44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9" name="prompt-1">
            <a:extLst xmlns:a="http://schemas.openxmlformats.org/drawingml/2006/main">
              <a:ext uri="{FF2B5EF4-FFF2-40B4-BE49-F238E27FC236}">
                <a16:creationId xmlns:a16="http://schemas.microsoft.com/office/drawing/2014/main" id="{B331A5ED-56B0-4153-9F17-2DF6A6CC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开口练习｜选择一个立场并说一句简短理由。</a:t>
            </a:r>
          </a:p>
        </p:txBody>
      </p:sp>
    </p:spTree>
    <p:extLst>
      <p:ext uri="{BB962C8B-B14F-4D97-AF65-F5344CB8AC3E}">
        <p14:creationId xmlns:p14="http://schemas.microsoft.com/office/powerpoint/2010/main" val="1250282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9C15E3C-A77E-4FD8-AFC3-A52820CD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5BCF2C5-C1B3-4EA1-A2CF-8B5D70CA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你上次买了什么？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6154603A-252B-4258-A2AE-BB2222DF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970B2BF-A03F-4041-B3DE-35B03673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衣服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颜色、尺码、风格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53DF46B2-2DE1-4C3A-AC44-9F7F7EF1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64226ED-DB11-4E35-9338-E7805380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书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学习、小说、礼物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B2FC5D65-1187-45F5-ADDB-8CB6E2DC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4C636128-967F-429D-ACB1-08D6E2DB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零食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味道、数量、分享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908F6F2B-C612-4845-85E5-A2A0763E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D577A5C7-7C1D-4375-963D-1CF8F1E4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耳机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声音、质量、价格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A51738D-DA44-4941-9A54-51C01D8D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热身采访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回忆一次购物经历，并用一到两个句子说明原因。</a:t>
            </a:r>
          </a:p>
        </p:txBody>
      </p:sp>
      <p:sp>
        <p:nvSpPr>
          <p:cNvPr id="12" name="accent-rail-2">
            <a:extLst xmlns:a="http://schemas.openxmlformats.org/drawingml/2006/main">
              <a:ext uri="{FF2B5EF4-FFF2-40B4-BE49-F238E27FC236}">
                <a16:creationId xmlns:a16="http://schemas.microsoft.com/office/drawing/2014/main" id="{774A5C1C-425B-44C8-BC36-DB88FBB6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ction-2">
            <a:extLst xmlns:a="http://schemas.openxmlformats.org/drawingml/2006/main">
              <a:ext uri="{FF2B5EF4-FFF2-40B4-BE49-F238E27FC236}">
                <a16:creationId xmlns:a16="http://schemas.microsoft.com/office/drawing/2014/main" id="{AD8131FC-70C9-416F-90EC-085F2D22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WARM-UP · 热身</a:t>
            </a:r>
          </a:p>
        </p:txBody>
      </p:sp>
      <p:sp>
        <p:nvSpPr>
          <p:cNvPr id="14" name="prompt-band-2">
            <a:extLst xmlns:a="http://schemas.openxmlformats.org/drawingml/2006/main">
              <a:ext uri="{FF2B5EF4-FFF2-40B4-BE49-F238E27FC236}">
                <a16:creationId xmlns:a16="http://schemas.microsoft.com/office/drawing/2014/main" id="{54D81A8D-4208-4E37-87BA-90069B60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15" name="prompt-2">
            <a:extLst xmlns:a="http://schemas.openxmlformats.org/drawingml/2006/main">
              <a:ext uri="{FF2B5EF4-FFF2-40B4-BE49-F238E27FC236}">
                <a16:creationId xmlns:a16="http://schemas.microsoft.com/office/drawing/2014/main" id="{35597D06-A3BA-4F1F-8D8C-4A9027B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开口练习｜请指向图片并完整说出你的回答。</a:t>
            </a:r>
          </a:p>
        </p:txBody>
      </p:sp>
    </p:spTree>
    <p:extLst>
      <p:ext uri="{BB962C8B-B14F-4D97-AF65-F5344CB8AC3E}">
        <p14:creationId xmlns:p14="http://schemas.microsoft.com/office/powerpoint/2010/main" val="2106714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CEB9FEA-F3CE-4C97-93C5-F3F4030A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7901ED0-4194-4AC1-93AF-872756B5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购物的一条路</a:t>
            </a:r>
          </a:p>
        </p:txBody>
      </p:sp>
      <p:cxnSp>
        <p:nvCxnSpPr>
          <p:cNvPr id="19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E4D9D39-DBFF-4F43-AFE7-3A3C9C8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F8B5408-887C-49A1-BB76-F92FA60E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E65475B-A975-4532-B93C-D571309A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A0792F1-6E8D-4FEC-8A56-48791021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01—02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833D2A5-4793-4134-88E7-329A8885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03—04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5C32432-EAE3-4197-BBF0-B55E08C9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05—06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B5156D4-A7D9-46CB-837C-25C64817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付款 → 等快递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完成订单，耐心等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5D745BA-3DA2-41AC-B75C-F465B4A5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看商品 → 下单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先比较，再决定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3F19D54-56A8-4E4B-B7AC-D7CB71B1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收包裹 → 评价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检查商品，说感受</a:t>
            </a:r>
          </a:p>
        </p:txBody>
      </p:sp>
      <p:sp>
        <p:nvSpPr>
          <p:cNvPr id="13" name="accent-rail-3">
            <a:extLst xmlns:a="http://schemas.openxmlformats.org/drawingml/2006/main">
              <a:ext uri="{FF2B5EF4-FFF2-40B4-BE49-F238E27FC236}">
                <a16:creationId xmlns:a16="http://schemas.microsoft.com/office/drawing/2014/main" id="{D26DE47A-2204-4B43-8892-AD09E74D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ction-3">
            <a:extLst xmlns:a="http://schemas.openxmlformats.org/drawingml/2006/main">
              <a:ext uri="{FF2B5EF4-FFF2-40B4-BE49-F238E27FC236}">
                <a16:creationId xmlns:a16="http://schemas.microsoft.com/office/drawing/2014/main" id="{1C3765A0-E27E-4CB9-9A68-56B90F3B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VOCAB · 词汇</a:t>
            </a:r>
          </a:p>
        </p:txBody>
      </p:sp>
      <p:sp>
        <p:nvSpPr>
          <p:cNvPr id="15" name="prompt-band-3">
            <a:extLst xmlns:a="http://schemas.openxmlformats.org/drawingml/2006/main">
              <a:ext uri="{FF2B5EF4-FFF2-40B4-BE49-F238E27FC236}">
                <a16:creationId xmlns:a16="http://schemas.microsoft.com/office/drawing/2014/main" id="{0C154A95-314E-4B3C-AED7-31C49E2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16" name="prompt-3">
            <a:extLst xmlns:a="http://schemas.openxmlformats.org/drawingml/2006/main">
              <a:ext uri="{FF2B5EF4-FFF2-40B4-BE49-F238E27FC236}">
                <a16:creationId xmlns:a16="http://schemas.microsoft.com/office/drawing/2014/main" id="{F85E697A-F248-421D-8A7C-5B9FE091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开口练习｜请按顺序读出并确认流程是否通顺。</a:t>
            </a:r>
          </a:p>
        </p:txBody>
      </p:sp>
    </p:spTree>
    <p:extLst>
      <p:ext uri="{BB962C8B-B14F-4D97-AF65-F5344CB8AC3E}">
        <p14:creationId xmlns:p14="http://schemas.microsoft.com/office/powerpoint/2010/main" val="622688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4FE969B-D995-416D-8A57-69CBA9AA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D3F2686-B7F9-4E70-A713-25B1CD3F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方便在哪里？</a:t>
            </a:r>
          </a:p>
        </p:txBody>
      </p:sp>
      <p:cxnSp>
        <p:nvCxnSpPr>
          <p:cNvPr id="22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0E96E6F-8F3F-46D8-AF12-AF126C2E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A0F7A18-0AE9-4A10-ACC9-AD40B400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AB80CAC-A095-4F1C-89D0-3A123D12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CB8EE0D8-37BE-4479-B712-D9DA06DF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38652582-063E-4CD4-B946-5343FC48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不用出门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因为在家就能买，所以省时间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D6223A81-8B31-48B0-AD1F-A6F2BA8E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A29345D6-4A20-4AF5-B83F-F7DCE3D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比较价格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因为可以比较，所以容易选择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B90C018-FC5D-4DC0-8F7F-8FE8C652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2DF50FB-E4AF-4C22-B08F-CDAAACF6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商品很多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因为选择多，所以容易找到合适的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18145698-4A16-44F0-9700-F8656E4C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所以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69A89FE3-419A-4F0D-9087-8FD195F8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因为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E456FB65-35FD-4095-9FF5-7504A5C7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轮到你</a:t>
            </a:r>
          </a:p>
        </p:txBody>
      </p:sp>
      <p:sp>
        <p:nvSpPr>
          <p:cNvPr id="16" name="accent-rail-4">
            <a:extLst xmlns:a="http://schemas.openxmlformats.org/drawingml/2006/main">
              <a:ext uri="{FF2B5EF4-FFF2-40B4-BE49-F238E27FC236}">
                <a16:creationId xmlns:a16="http://schemas.microsoft.com/office/drawing/2014/main" id="{93D471DC-5F02-4A80-B5D6-42517099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ction-4">
            <a:extLst xmlns:a="http://schemas.openxmlformats.org/drawingml/2006/main">
              <a:ext uri="{FF2B5EF4-FFF2-40B4-BE49-F238E27FC236}">
                <a16:creationId xmlns:a16="http://schemas.microsoft.com/office/drawing/2014/main" id="{AA9EAAC8-136A-4097-952F-4B094412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PATTERN · 句型</a:t>
            </a:r>
          </a:p>
        </p:txBody>
      </p:sp>
      <p:sp>
        <p:nvSpPr>
          <p:cNvPr id="18" name="prompt-band-4">
            <a:extLst xmlns:a="http://schemas.openxmlformats.org/drawingml/2006/main">
              <a:ext uri="{FF2B5EF4-FFF2-40B4-BE49-F238E27FC236}">
                <a16:creationId xmlns:a16="http://schemas.microsoft.com/office/drawing/2014/main" id="{14F0A1EE-651F-4A0A-BADC-02718E89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19" name="prompt-4">
            <a:extLst xmlns:a="http://schemas.openxmlformats.org/drawingml/2006/main">
              <a:ext uri="{FF2B5EF4-FFF2-40B4-BE49-F238E27FC236}">
                <a16:creationId xmlns:a16="http://schemas.microsoft.com/office/drawing/2014/main" id="{5E8019B7-E230-448D-988A-771A84AE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开口练习｜老师给提示后请你说两句，因为-所以结构。</a:t>
            </a:r>
          </a:p>
        </p:txBody>
      </p:sp>
    </p:spTree>
    <p:extLst>
      <p:ext uri="{BB962C8B-B14F-4D97-AF65-F5344CB8AC3E}">
        <p14:creationId xmlns:p14="http://schemas.microsoft.com/office/powerpoint/2010/main" val="1276280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720DFE3-781D-46E4-8F84-E6E4B0DF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FF2BAE7-7880-46DF-B53F-815061C9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网络购物的麻烦</a:t>
            </a:r>
          </a:p>
        </p:txBody>
      </p:sp>
      <p:cxnSp>
        <p:nvCxnSpPr>
          <p:cNvPr id="22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0F4A6D3-1DE9-46C6-BC60-81A74511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5547655-838A-4A99-A7AA-2A4AD841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36B57FA-BC51-452A-857C-F058106F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D5AE1E0C-584F-4294-AF31-60FDB6C4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1257442B-29C7-4189-9AC8-79CD137B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快递慢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虽然不用出门，但是要等很久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AD9AF764-D75C-4854-886A-F4701754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6DF9EE90-B02C-439E-8C5A-5F63D0C4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质量不同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虽然照片好看，但是收到的不一样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4714FB64-EC46-407C-9655-FA760ABE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FB28A980-4401-480C-A10A-58D2BF95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不合适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虽然价格便宜，但是尺码不合适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9BC0AEC7-E9B8-4DFD-875F-315A7FFC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质量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304B6DC9-4566-4C83-B7B4-EBC3620F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等待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99646BB8-6093-46BC-A3C6-C9C0C8B4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尺码</a:t>
            </a:r>
          </a:p>
        </p:txBody>
      </p:sp>
      <p:sp>
        <p:nvSpPr>
          <p:cNvPr id="16" name="accent-rail-5">
            <a:extLst xmlns:a="http://schemas.openxmlformats.org/drawingml/2006/main">
              <a:ext uri="{FF2B5EF4-FFF2-40B4-BE49-F238E27FC236}">
                <a16:creationId xmlns:a16="http://schemas.microsoft.com/office/drawing/2014/main" id="{4611EC7D-17D1-4F1A-BF98-DFB9350D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ction-5">
            <a:extLst xmlns:a="http://schemas.openxmlformats.org/drawingml/2006/main">
              <a:ext uri="{FF2B5EF4-FFF2-40B4-BE49-F238E27FC236}">
                <a16:creationId xmlns:a16="http://schemas.microsoft.com/office/drawing/2014/main" id="{E8F68148-7EE0-408A-AB22-5034A4F9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PATTERN · 句型</a:t>
            </a:r>
          </a:p>
        </p:txBody>
      </p:sp>
      <p:sp>
        <p:nvSpPr>
          <p:cNvPr id="18" name="prompt-band-5">
            <a:extLst xmlns:a="http://schemas.openxmlformats.org/drawingml/2006/main">
              <a:ext uri="{FF2B5EF4-FFF2-40B4-BE49-F238E27FC236}">
                <a16:creationId xmlns:a16="http://schemas.microsoft.com/office/drawing/2014/main" id="{5FD5C78B-9277-41FB-8C01-6678D09C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19" name="prompt-5">
            <a:extLst xmlns:a="http://schemas.openxmlformats.org/drawingml/2006/main">
              <a:ext uri="{FF2B5EF4-FFF2-40B4-BE49-F238E27FC236}">
                <a16:creationId xmlns:a16="http://schemas.microsoft.com/office/drawing/2014/main" id="{485016BD-5D8D-4E87-BC5E-9EDFCBAE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开口练习｜请你选一个问题卡，说一遍：虽然……，但是……。</a:t>
            </a:r>
          </a:p>
        </p:txBody>
      </p:sp>
    </p:spTree>
    <p:extLst>
      <p:ext uri="{BB962C8B-B14F-4D97-AF65-F5344CB8AC3E}">
        <p14:creationId xmlns:p14="http://schemas.microsoft.com/office/powerpoint/2010/main" val="983041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17175A3-7E88-4F98-814B-B4A97968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CEA50FE-64AF-431F-811D-C9B96B67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小李的耳机怎么了</a:t>
            </a:r>
          </a:p>
        </p:txBody>
      </p:sp>
      <p:cxnSp>
        <p:nvCxnSpPr>
          <p:cNvPr id="22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3C964E9-C72F-4CB0-80D9-7571B063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4B2C616-AABB-4B66-A73C-F17E5780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AF30CE2-B7FF-4E1C-ACCF-CBAB7BE8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F4D39AE9-A5E6-4113-9A71-B5B007B9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09E7CC67-0705-4D35-9D9F-7B1DF874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① 下单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小李在网上买了一副耳机。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4D2E4A99-F6EE-4166-B45B-2A6C8D80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A61919FB-77B1-41E1-8F3B-8FFE8EEC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② 收到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耳机有杂音，声音不正常。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F0DB43C3-A94C-48A7-B3AD-E9278971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A722BDF-56C1-4EAE-8751-58DD3438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③ 处理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联系卖家，说明问题，申请退货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DCC5BEB-6FC5-46A3-A29E-4561631F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什么问题？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8449F185-4A3A-4DA9-895E-32BEE864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买了什么？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C9FCCA57-C4DD-4723-99C4-6654BF07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怎么办？</a:t>
            </a:r>
          </a:p>
        </p:txBody>
      </p:sp>
      <p:sp>
        <p:nvSpPr>
          <p:cNvPr id="16" name="accent-rail-6">
            <a:extLst xmlns:a="http://schemas.openxmlformats.org/drawingml/2006/main">
              <a:ext uri="{FF2B5EF4-FFF2-40B4-BE49-F238E27FC236}">
                <a16:creationId xmlns:a16="http://schemas.microsoft.com/office/drawing/2014/main" id="{21633DD9-ADED-4F20-901F-FFCBF37F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ction-6">
            <a:extLst xmlns:a="http://schemas.openxmlformats.org/drawingml/2006/main">
              <a:ext uri="{FF2B5EF4-FFF2-40B4-BE49-F238E27FC236}">
                <a16:creationId xmlns:a16="http://schemas.microsoft.com/office/drawing/2014/main" id="{5200D5F7-D1D1-4D54-92EF-F4CCE615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INPUT · 情境</a:t>
            </a:r>
          </a:p>
        </p:txBody>
      </p:sp>
      <p:sp>
        <p:nvSpPr>
          <p:cNvPr id="18" name="prompt-band-6">
            <a:extLst xmlns:a="http://schemas.openxmlformats.org/drawingml/2006/main">
              <a:ext uri="{FF2B5EF4-FFF2-40B4-BE49-F238E27FC236}">
                <a16:creationId xmlns:a16="http://schemas.microsoft.com/office/drawing/2014/main" id="{7DFCEFBA-E41D-41C2-93A6-93879202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19" name="prompt-6">
            <a:extLst xmlns:a="http://schemas.openxmlformats.org/drawingml/2006/main">
              <a:ext uri="{FF2B5EF4-FFF2-40B4-BE49-F238E27FC236}">
                <a16:creationId xmlns:a16="http://schemas.microsoft.com/office/drawing/2014/main" id="{CA9495B9-CE0C-4F54-BD4B-0F37B1A5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开口练习｜老师先朗读情境，学生再用完整句回答三问。</a:t>
            </a:r>
          </a:p>
        </p:txBody>
      </p:sp>
    </p:spTree>
    <p:extLst>
      <p:ext uri="{BB962C8B-B14F-4D97-AF65-F5344CB8AC3E}">
        <p14:creationId xmlns:p14="http://schemas.microsoft.com/office/powerpoint/2010/main" val="148742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66BD1D9-2F58-446B-B995-3A4521AE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2939A0E-5A1E-4071-8C2E-BA478048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两件衣服怎么选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D6A89BD4-96E8-4098-BEA0-4005E61A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45DFE5E-5351-46E8-B468-3C0F79C0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A｜蓝色 · ¥89 · M偏小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23F54E8F-460B-4AC0-B72B-E710F57C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颜色更亮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价格更低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尺码偏小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94CDCAAF-97BB-4DCC-ACE3-7BF19E5B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39AF6D9-3DF5-4595-B212-79312F77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B｜黑色 · ¥109 · M合适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1851DCC-A156-4BAC-A60A-86E93CE4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颜色百搭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价格略高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尺码合适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6695FAA-DB1F-4CB4-8409-28031688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比较任务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先说一样或不一样，再选一件。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句型：A 跟 B 一样 / 不一样。</a:t>
            </a:r>
          </a:p>
        </p:txBody>
      </p:sp>
      <p:sp>
        <p:nvSpPr>
          <p:cNvPr id="10" name="accent-rail-7">
            <a:extLst xmlns:a="http://schemas.openxmlformats.org/drawingml/2006/main">
              <a:ext uri="{FF2B5EF4-FFF2-40B4-BE49-F238E27FC236}">
                <a16:creationId xmlns:a16="http://schemas.microsoft.com/office/drawing/2014/main" id="{7B9472A7-E3FE-4ECC-B89B-AC89796F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ction-7">
            <a:extLst xmlns:a="http://schemas.openxmlformats.org/drawingml/2006/main">
              <a:ext uri="{FF2B5EF4-FFF2-40B4-BE49-F238E27FC236}">
                <a16:creationId xmlns:a16="http://schemas.microsoft.com/office/drawing/2014/main" id="{F3A44B53-8D27-4483-8F9F-854CF925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COMPARE · 比较</a:t>
            </a:r>
          </a:p>
        </p:txBody>
      </p:sp>
      <p:sp>
        <p:nvSpPr>
          <p:cNvPr id="12" name="prompt-band-7">
            <a:extLst xmlns:a="http://schemas.openxmlformats.org/drawingml/2006/main">
              <a:ext uri="{FF2B5EF4-FFF2-40B4-BE49-F238E27FC236}">
                <a16:creationId xmlns:a16="http://schemas.microsoft.com/office/drawing/2014/main" id="{2B9AAECF-2A07-424A-A974-0A5A1054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13" name="prompt-7">
            <a:extLst xmlns:a="http://schemas.openxmlformats.org/drawingml/2006/main">
              <a:ext uri="{FF2B5EF4-FFF2-40B4-BE49-F238E27FC236}">
                <a16:creationId xmlns:a16="http://schemas.microsoft.com/office/drawing/2014/main" id="{B721D411-1511-46D0-9BEB-79A9FC0C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开口练习｜请先比较颜色、价格、尺码，再选择一件并说两句话。</a:t>
            </a:r>
          </a:p>
        </p:txBody>
      </p:sp>
    </p:spTree>
    <p:extLst>
      <p:ext uri="{BB962C8B-B14F-4D97-AF65-F5344CB8AC3E}">
        <p14:creationId xmlns:p14="http://schemas.microsoft.com/office/powerpoint/2010/main" val="793775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9ABAD4C-A700-4479-9FA2-7639B092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846AB9D-DB98-42BD-A5C0-95EF33B9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客服对话：我想退货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4AFEF1F0-1426-464E-BD3C-47B7B191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13581B6-488D-4505-87F8-68C783A4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回合二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可以，麻烦先把订单号发给我。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0B691FCC-FD66-45DB-952E-21B5830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99D3DEC-5D60-4E47-A494-A120D29A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回合一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我收到耳机了，但是有杂音，可以退货吗？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9D74061A-C017-44F5-B6D7-077B8921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CC6C52D4-2F78-4B3F-B6A5-D052FBF7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回合四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收到后我们会尽快处理你的退货。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E3C829B5-678B-43F9-AD17-07E42997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58913B54-4E27-4EC9-962A-B19E86FB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回合三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订单号 A-1234，请发退货方式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E15E939-646C-4279-9DCF-93F06F59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买家 ↔ 卖家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重建四句礼貌对话，清楚出现请求和回应。</a:t>
            </a:r>
          </a:p>
        </p:txBody>
      </p:sp>
      <p:sp>
        <p:nvSpPr>
          <p:cNvPr id="12" name="accent-rail-8">
            <a:extLst xmlns:a="http://schemas.openxmlformats.org/drawingml/2006/main">
              <a:ext uri="{FF2B5EF4-FFF2-40B4-BE49-F238E27FC236}">
                <a16:creationId xmlns:a16="http://schemas.microsoft.com/office/drawing/2014/main" id="{E4E4A446-B194-425D-90B7-9104CD78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ction-8">
            <a:extLst xmlns:a="http://schemas.openxmlformats.org/drawingml/2006/main">
              <a:ext uri="{FF2B5EF4-FFF2-40B4-BE49-F238E27FC236}">
                <a16:creationId xmlns:a16="http://schemas.microsoft.com/office/drawing/2014/main" id="{F9B8AF9E-F8DF-4914-B026-2CF5D69F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DIALOGUE · 对话</a:t>
            </a:r>
          </a:p>
        </p:txBody>
      </p:sp>
      <p:sp>
        <p:nvSpPr>
          <p:cNvPr id="14" name="prompt-band-8">
            <a:extLst xmlns:a="http://schemas.openxmlformats.org/drawingml/2006/main">
              <a:ext uri="{FF2B5EF4-FFF2-40B4-BE49-F238E27FC236}">
                <a16:creationId xmlns:a16="http://schemas.microsoft.com/office/drawing/2014/main" id="{826EFF76-57F5-4537-8C4C-B4685EEB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15" name="prompt-8">
            <a:extLst xmlns:a="http://schemas.openxmlformats.org/drawingml/2006/main">
              <a:ext uri="{FF2B5EF4-FFF2-40B4-BE49-F238E27FC236}">
                <a16:creationId xmlns:a16="http://schemas.microsoft.com/office/drawing/2014/main" id="{7BFE1120-F7A6-4460-9868-9AC4A796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开口练习｜将四轮对话按买家—卖家顺序排好，先读买家台词。</a:t>
            </a:r>
          </a:p>
        </p:txBody>
      </p:sp>
    </p:spTree>
    <p:extLst>
      <p:ext uri="{BB962C8B-B14F-4D97-AF65-F5344CB8AC3E}">
        <p14:creationId xmlns:p14="http://schemas.microsoft.com/office/powerpoint/2010/main" val="1140962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6055A43-BC77-4FEC-B16F-3E6D604C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40A9ABD-F48E-4AA7-BE32-FA480962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角色互换练习</a:t>
            </a:r>
          </a:p>
        </p:txBody>
      </p:sp>
      <p:cxnSp>
        <p:nvCxnSpPr>
          <p:cNvPr id="22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8820510-3CBD-4062-8BFA-30DEC058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278312-6E90-4655-A51A-4B07D92E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BB86D1E-A602-4BE0-ACB0-09250CC6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D9B407E2-EDEA-46DF-BECD-A78402D5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A41C135B-8B1A-4568-B77A-DCF982E8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第一轮｜你是买家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说明问题，提出换货或退货请求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7BE45FDF-9ED7-45D1-942A-22F473D0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74BA1E13-8D90-447F-A8D9-AA2341D0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第二轮｜你是卖家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确认情况，给出一个合理处理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800D8C7F-D498-4717-B851-CD86B30C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11AA2DA1-DF63-4F09-AFA2-B1E371F2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第三轮｜老师观察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重演对话；老师记一项成功和一步改进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E7B5C858-0BBF-49B4-BE2B-21AEE6C5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卖家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9A4377AB-E1BD-4660-991C-6493E486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买家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9E0E23B2-D76B-4D46-8A1C-F5552CB2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观察</a:t>
            </a:r>
          </a:p>
        </p:txBody>
      </p:sp>
      <p:sp>
        <p:nvSpPr>
          <p:cNvPr id="16" name="accent-rail-9">
            <a:extLst xmlns:a="http://schemas.openxmlformats.org/drawingml/2006/main">
              <a:ext uri="{FF2B5EF4-FFF2-40B4-BE49-F238E27FC236}">
                <a16:creationId xmlns:a16="http://schemas.microsoft.com/office/drawing/2014/main" id="{9EA627A6-1B48-482B-BE2F-3925247E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ction-9">
            <a:extLst xmlns:a="http://schemas.openxmlformats.org/drawingml/2006/main">
              <a:ext uri="{FF2B5EF4-FFF2-40B4-BE49-F238E27FC236}">
                <a16:creationId xmlns:a16="http://schemas.microsoft.com/office/drawing/2014/main" id="{FBB8C3EB-F1E4-43CE-B1CB-CC82F98A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ROLE-PLAY · 角色扮演</a:t>
            </a:r>
          </a:p>
        </p:txBody>
      </p:sp>
      <p:sp>
        <p:nvSpPr>
          <p:cNvPr id="18" name="prompt-band-9">
            <a:extLst xmlns:a="http://schemas.openxmlformats.org/drawingml/2006/main">
              <a:ext uri="{FF2B5EF4-FFF2-40B4-BE49-F238E27FC236}">
                <a16:creationId xmlns:a16="http://schemas.microsoft.com/office/drawing/2014/main" id="{61FA77FB-C6C0-4A79-A36E-DE237B50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19" name="prompt-9">
            <a:extLst xmlns:a="http://schemas.openxmlformats.org/drawingml/2006/main">
              <a:ext uri="{FF2B5EF4-FFF2-40B4-BE49-F238E27FC236}">
                <a16:creationId xmlns:a16="http://schemas.microsoft.com/office/drawing/2014/main" id="{CFC39FF0-C0FE-47A5-8C96-DDDCE263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开口练习｜先轮流说一遍，再交换身份重说一遍。</a:t>
            </a:r>
          </a:p>
        </p:txBody>
      </p:sp>
    </p:spTree>
    <p:extLst>
      <p:ext uri="{BB962C8B-B14F-4D97-AF65-F5344CB8AC3E}">
        <p14:creationId xmlns:p14="http://schemas.microsoft.com/office/powerpoint/2010/main" val="17827693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E1D3283-D85F-45AE-B6B7-62196372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A7A8B90-62D7-46D1-89AF-E8A0FEBC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方便还是麻烦？看情况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940E4004-1A41-4F69-9649-95DCD425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6063D93-3588-493C-B190-8AE2983D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方便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197650EA-CFF3-40E4-A132-839F5EA5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不用出门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容易比较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选择很多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2194DE8E-1C82-472A-A6F7-FB26C6B6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FE3E936-91BE-40A2-AF79-3E505E3E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麻烦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A8E373B-0650-4237-9768-4D3CD103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需要等待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质量有差异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退货要沟通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2F16257-FA17-41D8-9BA5-3CC54C89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表达你的立场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网络购物很方便，因为……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但是……也会很麻烦。</a:t>
            </a:r>
          </a:p>
        </p:txBody>
      </p:sp>
      <p:sp>
        <p:nvSpPr>
          <p:cNvPr id="10" name="accent-rail-10">
            <a:extLst xmlns:a="http://schemas.openxmlformats.org/drawingml/2006/main">
              <a:ext uri="{FF2B5EF4-FFF2-40B4-BE49-F238E27FC236}">
                <a16:creationId xmlns:a16="http://schemas.microsoft.com/office/drawing/2014/main" id="{1161B45C-9717-4C9F-858E-3DDE0B94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ction-10">
            <a:extLst xmlns:a="http://schemas.openxmlformats.org/drawingml/2006/main">
              <a:ext uri="{FF2B5EF4-FFF2-40B4-BE49-F238E27FC236}">
                <a16:creationId xmlns:a16="http://schemas.microsoft.com/office/drawing/2014/main" id="{61437BC1-F8CC-4BD4-B504-AB79E13C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SYNTHESIS · 综合</a:t>
            </a:r>
          </a:p>
        </p:txBody>
      </p:sp>
      <p:sp>
        <p:nvSpPr>
          <p:cNvPr id="12" name="prompt-band-10">
            <a:extLst xmlns:a="http://schemas.openxmlformats.org/drawingml/2006/main">
              <a:ext uri="{FF2B5EF4-FFF2-40B4-BE49-F238E27FC236}">
                <a16:creationId xmlns:a16="http://schemas.microsoft.com/office/drawing/2014/main" id="{5F7B7928-64DC-4576-A646-E78770C6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13" name="prompt-10">
            <a:extLst xmlns:a="http://schemas.openxmlformats.org/drawingml/2006/main">
              <a:ext uri="{FF2B5EF4-FFF2-40B4-BE49-F238E27FC236}">
                <a16:creationId xmlns:a16="http://schemas.microsoft.com/office/drawing/2014/main" id="{FAEE7EA5-2C73-44C3-9B86-DC9E1A62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开口练习｜说出你的判断，并给出至少一个原因。</a:t>
            </a:r>
          </a:p>
        </p:txBody>
      </p:sp>
    </p:spTree>
    <p:extLst>
      <p:ext uri="{BB962C8B-B14F-4D97-AF65-F5344CB8AC3E}">
        <p14:creationId xmlns:p14="http://schemas.microsoft.com/office/powerpoint/2010/main" val="546748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792C7AE-9DF5-4B47-9F58-E5940142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A8E2973-423D-41A1-84E6-5D36F332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给朋友的建议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40CF0B39-6975-4A68-BC4F-BBC505CF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1FCFD4F-D0AA-4609-B08B-959BFBFC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看尺寸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大小和尺码合不合适？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7339473F-7740-4D52-9A8C-7E6ACE7E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6E10AD9-08CD-4903-AE90-A07FDB63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看颜色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是不是朋友喜欢的颜色？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F9B28FAD-63B8-429D-ACDB-9DAEA060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F6948F44-B66C-426A-A189-CCC1A85F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看退换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要是不合适，怎么处理？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5B488231-9251-4B31-9796-2CE88E99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0063D066-86C5-4571-A67A-E4B3D280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看评价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别人收到后怎么说？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E019C8D8-7772-413D-8E65-0CCD5FD6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今晚要买生日礼物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用“要是…就…”给朋友三句建议。</a:t>
            </a:r>
          </a:p>
        </p:txBody>
      </p:sp>
      <p:sp>
        <p:nvSpPr>
          <p:cNvPr id="12" name="accent-rail-11">
            <a:extLst xmlns:a="http://schemas.openxmlformats.org/drawingml/2006/main">
              <a:ext uri="{FF2B5EF4-FFF2-40B4-BE49-F238E27FC236}">
                <a16:creationId xmlns:a16="http://schemas.microsoft.com/office/drawing/2014/main" id="{71B9AD43-6E69-4C22-983D-3D0AF46C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ction-11">
            <a:extLst xmlns:a="http://schemas.openxmlformats.org/drawingml/2006/main">
              <a:ext uri="{FF2B5EF4-FFF2-40B4-BE49-F238E27FC236}">
                <a16:creationId xmlns:a16="http://schemas.microsoft.com/office/drawing/2014/main" id="{A9E62534-24DA-49FC-A851-D0C33EB5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TRANSFER · 迁移</a:t>
            </a:r>
          </a:p>
        </p:txBody>
      </p:sp>
      <p:sp>
        <p:nvSpPr>
          <p:cNvPr id="14" name="prompt-band-11">
            <a:extLst xmlns:a="http://schemas.openxmlformats.org/drawingml/2006/main">
              <a:ext uri="{FF2B5EF4-FFF2-40B4-BE49-F238E27FC236}">
                <a16:creationId xmlns:a16="http://schemas.microsoft.com/office/drawing/2014/main" id="{9816D0D6-7B69-44A8-BB89-B6068A62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15" name="prompt-11">
            <a:extLst xmlns:a="http://schemas.openxmlformats.org/drawingml/2006/main">
              <a:ext uri="{FF2B5EF4-FFF2-40B4-BE49-F238E27FC236}">
                <a16:creationId xmlns:a16="http://schemas.microsoft.com/office/drawing/2014/main" id="{1FA7BE8C-C5DC-40B7-A7BD-2BC9C908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开口练习｜按要是…就…完整说出三句推荐。</a:t>
            </a:r>
          </a:p>
        </p:txBody>
      </p:sp>
    </p:spTree>
    <p:extLst>
      <p:ext uri="{BB962C8B-B14F-4D97-AF65-F5344CB8AC3E}">
        <p14:creationId xmlns:p14="http://schemas.microsoft.com/office/powerpoint/2010/main" val="14483203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9560FBF7-023C-4BEE-8AC1-153B761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说得出来，
就是真的会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85BE8CD-0145-4041-9D10-DFD92E9B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① 一个新词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② 一个购物问题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③ 一个有理由的结论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736568F-728D-4810-AB7D-56683A9B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EXIT TICKET · 30 秒</a:t>
            </a:r>
          </a:p>
        </p:txBody>
      </p:sp>
      <p:sp>
        <p:nvSpPr>
          <p:cNvPr id="4" name="accent-rail-12">
            <a:extLst xmlns:a="http://schemas.openxmlformats.org/drawingml/2006/main">
              <a:ext uri="{FF2B5EF4-FFF2-40B4-BE49-F238E27FC236}">
                <a16:creationId xmlns:a16="http://schemas.microsoft.com/office/drawing/2014/main" id="{11FB25A7-C6B0-44EF-8527-C3162BBD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12">
            <a:extLst xmlns:a="http://schemas.openxmlformats.org/drawingml/2006/main">
              <a:ext uri="{FF2B5EF4-FFF2-40B4-BE49-F238E27FC236}">
                <a16:creationId xmlns:a16="http://schemas.microsoft.com/office/drawing/2014/main" id="{93DC1719-F1CD-4C04-9C97-6099CD79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6CDF"/>
                </a:solidFill>
              </a:defRPr>
            </a:pPr>
            <a:r>
              <a:rPr sz="1050" b="1">
                <a:solidFill>
                  <a:srgbClr val="2D6CDF"/>
                </a:solidFill>
              </a:rPr>
              <a:t>RETRIEVE · 检索</a:t>
            </a:r>
          </a:p>
        </p:txBody>
      </p:sp>
      <p:sp>
        <p:nvSpPr>
          <p:cNvPr id="6" name="prompt-band-12">
            <a:extLst xmlns:a="http://schemas.openxmlformats.org/drawingml/2006/main">
              <a:ext uri="{FF2B5EF4-FFF2-40B4-BE49-F238E27FC236}">
                <a16:creationId xmlns:a16="http://schemas.microsoft.com/office/drawing/2014/main" id="{46F89E9A-886B-404B-8FD7-2F074BF2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1028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9DAF8"/>
            </a:solidFill>
            <a:prstDash val="solid"/>
          </a:ln>
        </p:spPr>
      </p:sp>
      <p:sp>
        <p:nvSpPr>
          <p:cNvPr id="7" name="prompt-12">
            <a:extLst xmlns:a="http://schemas.openxmlformats.org/drawingml/2006/main">
              <a:ext uri="{FF2B5EF4-FFF2-40B4-BE49-F238E27FC236}">
                <a16:creationId xmlns:a16="http://schemas.microsoft.com/office/drawing/2014/main" id="{3308C25D-7BA1-46E8-9392-E31FB7AA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76975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4C88"/>
                </a:solidFill>
              </a:defRPr>
            </a:pPr>
            <a:r>
              <a:rPr sz="1050" b="1">
                <a:solidFill>
                  <a:srgbClr val="244C88"/>
                </a:solidFill>
              </a:rPr>
              <a:t>开口练习｜30秒内口头或书写作答一次。</a:t>
            </a:r>
          </a:p>
        </p:txBody>
      </p:sp>
    </p:spTree>
    <p:extLst>
      <p:ext uri="{BB962C8B-B14F-4D97-AF65-F5344CB8AC3E}">
        <p14:creationId xmlns:p14="http://schemas.microsoft.com/office/powerpoint/2010/main" val="63780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2026-07-25T15:27:19.6750000Z</dcterms:created>
  <dcterms:modified xsi:type="dcterms:W3CDTF">2026-07-25T15:27:19.6750000Z</dcterms:modified>
</coreProperties>
</file>